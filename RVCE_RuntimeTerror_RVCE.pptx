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Overlock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2341F7-FB01-4C92-AC41-5D4D45AF895F}">
  <a:tblStyle styleId="{7E2341F7-FB01-4C92-AC41-5D4D45AF89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regular.fntdata"/><Relationship Id="rId22" Type="http://schemas.openxmlformats.org/officeDocument/2006/relationships/font" Target="fonts/Overlock-italic.fntdata"/><Relationship Id="rId21" Type="http://schemas.openxmlformats.org/officeDocument/2006/relationships/font" Target="fonts/Overlock-bold.fntdata"/><Relationship Id="rId24" Type="http://schemas.openxmlformats.org/officeDocument/2006/relationships/font" Target="fonts/Roboto-regular.fntdata"/><Relationship Id="rId23" Type="http://schemas.openxmlformats.org/officeDocument/2006/relationships/font" Target="fonts/Overlock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f85b32f3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f85b32f3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f85b32f3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9f6ba4b2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f9f6ba4b2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f9f6ba4b2_1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f9f6ba4b2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f9f6ba4b2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f9f6ba4b2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f9f6ba4b2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f9f6ba4b2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f9f6ba4b2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f8eeea0b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f8eeea0b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f8eeea0bb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NidhiMBhat/GenesisClaw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898563" y="1450519"/>
            <a:ext cx="4421349" cy="563823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0" y="2686550"/>
            <a:ext cx="83589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&lt;</a:t>
            </a: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RVCE</a:t>
            </a: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&gt;_&lt;</a:t>
            </a: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RuntimeTerror_RVCE</a:t>
            </a: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&gt;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&lt;</a:t>
            </a: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"From papers to pipelines automatically"</a:t>
            </a:r>
            <a:r>
              <a:rPr b="1" i="0" lang="en-IN" sz="40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&gt;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&lt;</a:t>
            </a:r>
            <a:r>
              <a:rPr b="1" lang="en-IN" sz="4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Nidhi Mahesh Bhat,Sharvari S ,</a:t>
            </a:r>
            <a:endParaRPr b="1" sz="40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Gouri Surendra Nayak,Hamsini H D</a:t>
            </a:r>
            <a:r>
              <a:rPr b="1" i="0" lang="en-IN" sz="4000" u="none" cap="none" strike="noStrik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&gt;</a:t>
            </a:r>
            <a:br>
              <a:rPr b="1" i="0" lang="en-IN" sz="4000" u="none" cap="none" strike="noStrik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endParaRPr b="1" i="0" sz="4000" u="none" cap="none" strike="noStrike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Autonomous Research Gap Miner &amp; Execution Planner 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295850" y="2460225"/>
            <a:ext cx="7390200" cy="3694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a genuinely unsolved, buildable GenAI problem is brutally hard.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ArXiv publishes 200+ AI papers daily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"Future Work" sections bury the gold in 8 pages of dense text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spend 20–30% of their sprint just on ideation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default to safe, already-solved ideas — and build forgettable projects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 flipH="1">
            <a:off x="4732950" y="4627475"/>
            <a:ext cx="672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6448700" y="1554475"/>
            <a:ext cx="5243400" cy="4042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This Different From Every Other Research Tool?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existing tool — Semantic Scholar, Connected Papers, Elicit — is reactive. You go to them with a question. They answer 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GenesisClaw is proactive. It comes to you with an opportunity.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That's not an incremental improvement. That's a workflow inversion. And for time-boxed hackathon teams working under Samsung PRISM's research mandate, that difference is the entire sprint.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820825" y="8874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16"/>
          <p:cNvSpPr txBox="1"/>
          <p:nvPr/>
        </p:nvSpPr>
        <p:spPr>
          <a:xfrm>
            <a:off x="153075" y="887425"/>
            <a:ext cx="6079800" cy="537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Faces This?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Persona — The PRISM Hackathon Team Lead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24–72 hours to go from zero to demo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technically strong but research-bandwidth-limited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Wastes the first 20–30% of the sprint just figuring out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build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ideas that are novel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buildable — not just theoretically interesting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Persona — The Samsung PRISM Intern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on a worklet with a defined research mandate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to propose novel problem statements but has no structured discovery process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solutions that fit on-device (sub-7B) — a constraint most research tools completely ignore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2791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91150" y="398948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56800" y="1252450"/>
            <a:ext cx="5881500" cy="1544700"/>
          </a:xfrm>
          <a:prstGeom prst="roundRect">
            <a:avLst>
              <a:gd fmla="val 10780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solutions: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Google Scholar and Semantic Scholar only retrieve papers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GitHub search requires manual exploration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Existing AI research tools mainly summarize content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direct implementation guidance is provided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469525" y="3028963"/>
            <a:ext cx="6425700" cy="1544700"/>
          </a:xfrm>
          <a:prstGeom prst="roundRect">
            <a:avLst>
              <a:gd fmla="val 16469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missing/broken: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Researchers manually analyze hundreds of papers to identify gaps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semantic clustering of similar research problems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Existing systems cannot connect gaps with implementation repositories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automated execution planning for discovered opportunities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1422125" y="4805475"/>
            <a:ext cx="5726100" cy="1758900"/>
          </a:xfrm>
          <a:prstGeom prst="roundRect">
            <a:avLst>
              <a:gd fmla="val 11402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🚀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GenesisClaw  Opportunity: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AI-powered research gap extraction using LLMs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clustering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vector embeddings + ChromaDB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Trending gap identification across research domains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intelligence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 for implementation discovery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Automated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roadmap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Solutions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09600" y="1573775"/>
            <a:ext cx="2874000" cy="41943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solidFill>
                  <a:schemeClr val="dk1"/>
                </a:solidFill>
              </a:rPr>
              <a:t>What We Built — </a:t>
            </a:r>
            <a:r>
              <a:rPr b="1" i="1" lang="en-IN" sz="2300">
                <a:solidFill>
                  <a:schemeClr val="dk1"/>
                </a:solidFill>
              </a:rPr>
              <a:t>GenesisClaw</a:t>
            </a:r>
            <a:endParaRPr b="1" i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An autonomous AI research-to-engineering pipeline that doesn’t just summarize research papers — it identifies unsolved problems inside them and generates executable software project plans automatically.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Instead of humans manually reading papers, finding gaps, researching implementations, and planning execution, GenesisClaw automates the entire loop.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866375" y="1975575"/>
            <a:ext cx="4267200" cy="4786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solidFill>
                  <a:schemeClr val="dk1"/>
                </a:solidFill>
              </a:rPr>
              <a:t>Core Idea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Most AI research tools stop at: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summarizing papers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answering questions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recommending papers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GenesisClaw goes further: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Reads new research papers automatically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Detects unresolved research problems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Filters high-value gaps using ML clustering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Grounds ideas with existing GitHub projects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Generates complete engineering execution plans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IN" sz="1200">
                <a:solidFill>
                  <a:schemeClr val="dk1"/>
                </a:solidFill>
              </a:rPr>
              <a:t>Streams results live to a dashboard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To summarise what it does: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</a:rPr>
              <a:t>“Research paper → startup/project blueprint automatically”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8516350" y="1573775"/>
            <a:ext cx="3423600" cy="40995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300">
                <a:solidFill>
                  <a:schemeClr val="dk1"/>
                </a:solidFill>
              </a:rPr>
              <a:t>Problem We’re Solving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There’s a massive gap between: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academic research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actual software implementation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Developers waste time: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finding useful papers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understanding limitations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deciding what to build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planning architecture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>
                <a:solidFill>
                  <a:schemeClr val="dk1"/>
                </a:solidFill>
              </a:rPr>
              <a:t>distributing tasks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</a:rPr>
              <a:t>GenesisClaw converts research insights into actionable engineering roadmaps in minutes.</a:t>
            </a:r>
            <a:endParaRPr sz="267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926075" y="-36578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4123971" y="816917"/>
            <a:ext cx="276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 of Prototype</a:t>
            </a:r>
            <a:endParaRPr/>
          </a:p>
        </p:txBody>
      </p:sp>
      <p:pic>
        <p:nvPicPr>
          <p:cNvPr id="151" name="Google Shape;151;p19" title="WhatsApp Image 2026-05-08 at 11.21.42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8624"/>
            <a:ext cx="11714100" cy="54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 title="WhatsApp Image 2026-05-08 at 11.23.10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54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 title="WhatsApp Image 2026-05-08 at 11.24.13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3125"/>
            <a:ext cx="11887200" cy="556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3333150" y="-10989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902860" y="1281365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457521" y="4229720"/>
            <a:ext cx="55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22"/>
          <p:cNvGraphicFramePr/>
          <p:nvPr/>
        </p:nvGraphicFramePr>
        <p:xfrm>
          <a:off x="1988875" y="7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{7E2341F7-FB01-4C92-AC41-5D4D45AF895F}</a:tableStyleId>
              </a:tblPr>
              <a:tblGrid>
                <a:gridCol w="1548975"/>
                <a:gridCol w="2546425"/>
                <a:gridCol w="4118850"/>
              </a:tblGrid>
              <a:tr h="41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Layer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Technology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Purpose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Runtime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Node.js + Express.js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API server, routing, SSE stream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Frontend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React.js + Vite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Dashboard, analyzer, plan viewer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Background Worker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openclaw-worker.js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Autonomous arXiv polling daemon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Process Manager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PM2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Keeps both engines alive on cloud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Cloud Hosting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GCP Compute Engine (e2-micro)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Persistent VM for file-based memory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Frontend Hosting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Vercel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Static React deployment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Secure Tunnel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Ngrok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HTTPS wrapper over GCP HTTP for browser security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Memory Storage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leaderboard.json + memory/runs/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Persistent gap storage per run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ML Clustering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Python (dev2_module.py)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Deduplicates and ranks extracted gaps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4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Config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heartbeat.md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Defines active research niches dynamically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23"/>
          <p:cNvGraphicFramePr/>
          <p:nvPr/>
        </p:nvGraphicFramePr>
        <p:xfrm>
          <a:off x="2035950" y="130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{7E2341F7-FB01-4C92-AC41-5D4D45AF895F}</a:tableStyleId>
              </a:tblPr>
              <a:tblGrid>
                <a:gridCol w="1728850"/>
                <a:gridCol w="2309775"/>
                <a:gridCol w="3927975"/>
              </a:tblGrid>
              <a:tr h="47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Layer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Model / Tool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Role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Primary LLM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Groq SDK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Gap extraction and execution plan synthesis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Agent Framework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OpenClaw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Pipeline orchestration and skill execution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Output Validation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JSON Schemas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Hallucination-free structured AI responses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Literature 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arXiv API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Live research paper ingestion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Real-time Delivery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Server-Sent Events (SSE)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Pushes live agent updates to the UI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3"/>
          <p:cNvSpPr txBox="1"/>
          <p:nvPr/>
        </p:nvSpPr>
        <p:spPr>
          <a:xfrm>
            <a:off x="4483200" y="493825"/>
            <a:ext cx="6658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USAGE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3307800" y="0"/>
            <a:ext cx="55764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stem Flow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375" y="534200"/>
            <a:ext cx="8427600" cy="632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286450" y="670535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1056550" y="1927013"/>
            <a:ext cx="3368400" cy="1326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🎓</a:t>
            </a:r>
            <a:r>
              <a:rPr b="1" lang="en-IN" sz="1500"/>
              <a:t>Academia &amp; Researchers</a:t>
            </a:r>
            <a:r>
              <a:rPr lang="en-IN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</a:t>
            </a:r>
            <a:r>
              <a:rPr lang="en-IN"/>
              <a:t>• Faster research gap discovery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Automated literature analysis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Reduced manual exploration</a:t>
            </a:r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5887900" y="1927000"/>
            <a:ext cx="3368400" cy="1326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latin typeface="Calibri"/>
                <a:ea typeface="Calibri"/>
                <a:cs typeface="Calibri"/>
                <a:sym typeface="Calibri"/>
              </a:rPr>
              <a:t>🚀</a:t>
            </a: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Startups &amp; Builders 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Faster prototype planning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GitHub-based implementation guidance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Rapid idea validation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056550" y="3394900"/>
            <a:ext cx="3368400" cy="13266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latin typeface="Calibri"/>
                <a:ea typeface="Calibri"/>
                <a:cs typeface="Calibri"/>
                <a:sym typeface="Calibri"/>
              </a:rPr>
              <a:t>🏢</a:t>
            </a: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Enterprises &amp; Innovation Teams</a:t>
            </a:r>
            <a:r>
              <a:rPr lang="en-IN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• Trend analysis across research domains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• Competitive technology tracking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 • AI-assisted strategic planning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5887900" y="3394900"/>
            <a:ext cx="3368400" cy="1402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latin typeface="Calibri"/>
                <a:ea typeface="Calibri"/>
                <a:cs typeface="Calibri"/>
                <a:sym typeface="Calibri"/>
              </a:rPr>
              <a:t>🔬</a:t>
            </a: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R&amp;D Labs</a:t>
            </a:r>
            <a:r>
              <a:rPr lang="en-IN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Discover emerging opportunities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Semantic clustering of innovations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 • Automated execution roadmaps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3172625" y="5265350"/>
            <a:ext cx="4297800" cy="1326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/>
              <a:t>🌍Scalable to: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Multi-domain research ecosystems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Enterprise innovation platforms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AI-powered academic assistants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  • Global research intelligence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507450" y="2109200"/>
            <a:ext cx="5120700" cy="250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MOAT 1 — Schema-Validated AI Output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Every AI tool in this space has the same weakness: unstructured, unverifiable output.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GenesisClaw enforces strict JSON schemas on every Gemini response before it reaches the user. This means the gap extraction and execution plan are not suggestions — they are structured, validated, machine-readable engineering artifacts.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6122654" y="2109212"/>
            <a:ext cx="5659500" cy="445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</a:rPr>
              <a:t>MOAT 2 — Pipeline Architecture, Not a Chatbot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Most AI research tools are wrappers — a prompt box on top of an LLM.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GenesisClaw is a </a:t>
            </a:r>
            <a:r>
              <a:rPr b="1" lang="en-IN">
                <a:solidFill>
                  <a:schemeClr val="dk1"/>
                </a:solidFill>
              </a:rPr>
              <a:t>multi-stage orchestrated pipeline: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Abstract → Gap Extraction → Execution Planning → Leaderboard Ranking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Each stage is a discrete, replaceable module with its own logic, schema, and AI interaction. This means: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The LLM can be swapped (Gemini → Groq → Ollama) without breaking the workflow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Each stage can be independently improved or benchmarked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The system compounds in value over time as the leaderboard accumulates ranked, deduplicated gaps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722175" y="2109200"/>
            <a:ext cx="11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Demo link: https://drive.google.com/drive/folders/12A7bIS0QNwBCM5T6w5bVEJT1eFkDXTdA?usp=sharing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link: </a:t>
            </a:r>
            <a:r>
              <a:rPr lang="en-I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https://github.com/NidhiMBhat/GenesisClaw.git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